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3780000"/>
            <a:ext cx="10080000" cy="18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dt" idx="1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&lt;дата/время&gt;</a:t>
            </a:r>
            <a:endParaRPr b="0" lang="ru-RU" sz="14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&lt;нижний колонтитул&gt;</a:t>
            </a:r>
            <a:endParaRPr b="0" lang="ru-RU" sz="14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3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5703913E-FFF2-4C3A-A4FF-8B7BFF4ED930}" type="slidenum"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&lt;номер&gt;</a:t>
            </a:fld>
            <a:endParaRPr b="0" lang="ru-RU" sz="14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6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-324000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  <a:endParaRPr b="0" lang="ru-RU" sz="21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ru-RU" sz="165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Второй уровень структуры</a:t>
            </a:r>
            <a:endParaRPr b="0" lang="ru-RU" sz="165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Третий уровень структуры</a:t>
            </a:r>
            <a:endParaRPr b="0" lang="ru-RU" sz="18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Четвёртый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Пятый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Шестой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Седьмой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3780000"/>
            <a:ext cx="10080000" cy="18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&lt;дата/время&gt;</a:t>
            </a:r>
            <a:endParaRPr b="0" lang="ru-RU" sz="14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&lt;нижний колонтитул&gt;</a:t>
            </a:r>
            <a:endParaRPr b="0" lang="ru-RU" sz="14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AE1E751C-226B-47A6-BEF4-960F2431BFCA}" type="slidenum"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&lt;номер&gt;</a:t>
            </a:fld>
            <a:endParaRPr b="0" lang="ru-RU" sz="14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6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-324000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  <a:endParaRPr b="0" lang="ru-RU" sz="21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ru-RU" sz="165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Второй уровень структуры</a:t>
            </a:r>
            <a:endParaRPr b="0" lang="ru-RU" sz="165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Третий уровень структуры</a:t>
            </a:r>
            <a:endParaRPr b="0" lang="ru-RU" sz="18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Четвёртый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Пятый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Шестой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Седьмой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75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Второй уровень структуры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Третий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Четвёртый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Пятый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Шестой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Седьмой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&lt;дата/время&gt;</a:t>
            </a:r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&lt;нижний колонтитул&gt;</a:t>
            </a:r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3283ED20-F30C-4BE0-B690-A39E4340D055}" type="slidenum"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&lt;номер&gt;</a:t>
            </a:fld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75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Второй уровень структуры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Третий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Четвёртый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Пятый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Шестой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Седьмой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&lt;дата/время&gt;</a:t>
            </a:r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&lt;нижний колонтитул&gt;</a:t>
            </a:r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FDEC7D47-F04B-4DF5-A92D-A22409F21960}" type="slidenum"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&lt;номер&gt;</a:t>
            </a:fld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 flipV="1">
            <a:off x="0" y="0"/>
            <a:ext cx="10080000" cy="1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75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  <a:endParaRPr b="0" lang="ru-RU" sz="45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Второй уровень структуры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Третий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Четвёртый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Пятый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Шестой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Седьмой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&lt;дата/время&gt;</a:t>
            </a:r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&lt;нижний колонтитул&gt;</a:t>
            </a:r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4A3B5138-D42C-46BA-8360-F350A6903EB4}" type="slidenum"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&lt;номер&gt;</a:t>
            </a:fld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8" name=""/>
          <p:cNvSpPr/>
          <p:nvPr/>
        </p:nvSpPr>
        <p:spPr>
          <a:xfrm>
            <a:off x="0" y="5580000"/>
            <a:ext cx="10080000" cy="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6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Смута и Интервенция: Василий Шуйский и Лжедмитрий II</a:t>
            </a:r>
            <a:endParaRPr b="0" lang="ru-RU" sz="6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180000" y="3870000"/>
            <a:ext cx="9720000" cy="193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1" lang="ru-RU" sz="28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Цель: Анализ причин углубления кризиса, природы второго самозванца и роли иностранного вмешательства в падении династии Рюриковичей</a:t>
            </a:r>
            <a:endParaRPr b="1" lang="ru-RU" sz="28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85000" lnSpcReduction="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Приход к власти Василия Шуйского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2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После убийства Лжедмитрия I бояре стремились вернуть легитимность власти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 июне 1606 года Земский собор избрал царем князя Василия Шуйского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Шуйский дал клятву править совместно с Боярской думой, ограничив свою самодержавную власть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Изначально поддерживался значительной частью дворянства и духовенства как защитник православия от «самозванца»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85000" lnSpcReduction="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Восстание Болотникова (1606-1607)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260000"/>
            <a:ext cx="9072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Повод: недовольство крепостным правом, налогами и политикой Шуйского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Лидер: крестьянский предводитель Иван Болотников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Повстанцы осадили Москву, но были разбиты благодаря предательству части командиров и подвозу войск из Тулы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Последствия: усиление репрессий против беглый крестьян, радикализация общества, рост популярности идеи «нового царя», который восстановит справедливость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Появление Лжедмитрия II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260000"/>
            <a:ext cx="9072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Появился в 1607 году в Стародубе, называя себя чудом спасшимся царевичем Дмитрием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Версия о личности: скорее всего, это был монах Григорий Отрепьев (брат первого Лжедмитрия) или другой авантюрист, получивший поддержку польских магнатов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Его штаб разместился в селе Тушино (под Москвой), откуда он издавал указаы, назначал чиновников и собирал налоги — возникла «параллельная власть»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Разделение страны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260000"/>
            <a:ext cx="9072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Значительная часть южных и западных уездов перешла на 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сторону Тушинского лагеря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 Тушино существовали свои приказы, своя патриаршая 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хиротония и даже свой патриарх Филарет (отец будущего 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царя Михаила Романова)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Москва контролировала центр и северо-восток, но была 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ослаблена внутренними конфликтами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Это был первый случай в истории России, когда страна 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фактически распалась на две враждующие территории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Роль Польши и Литвы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260000"/>
            <a:ext cx="9072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Польский король Сигизмунд III изначально скрывал поддержку самозванца, чтобы избежать открытой войны с Россией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Магнаты (Ходкевич, Сапега, Мнишек) финансировали войска ради добычи и влияния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 1609 году Сигизмунд III официально объявил войну России, сняв осаду со Смоленска и двинув армию к Москве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Цель: посадить на русский трон своего сына Владислава или установить марионеточное правительство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85000" lnSpcReduction="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Осада Троице-Сергиева монастыря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260000"/>
            <a:ext cx="9072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Тушинский лагерь и польские отряды осаждали Троице-Сергиев монастырь с августа 1608 по январь 1609 года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Защитники (игумен Варлаам и монахи) выдержали голод, болезни и штурмы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Оборона сорвала планы самозванца быстро захватить Москву с севера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Подъем духа защитников стал символом сопротивления иноземному вмешательству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75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Падение авторитета Шуйского и «Семибоярщина»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504000" y="1260000"/>
            <a:ext cx="9072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Поражение русских войск под Клушино (июль 1610) от 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поляков под командованием Жолкиевского стала 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переломным моментом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Боярская оппозиция во главе с Василием Голицыным 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организовала заговор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19 июля 1610 года Шуйский был вынужден отречься от 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престола и пострижен в монахи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Власть перешла к «Семибоярщине» - 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правительственному совету из семи бояр, который искал 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спасения в союзе с Польшей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75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Приглашение Владислава и капитуляция Москвы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260000"/>
            <a:ext cx="9072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Бояре подписали договор с польским гетманом Ходкевичем: они признают царем сына Сигизмунда III — Владислава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Условие: Владислав должен принять православие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 августе 1610 года польские войска вошли в Москву без боя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Самозванец Лжедмитрий II бежал из Тушина вместе с казной и остатками войска, его влияние начало стремительно падать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Итоги и историческое значение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260000"/>
            <a:ext cx="9072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Свержение Шуйского ознаменовало конец первой фазы Смуты и полную потерю государственного суверенитета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Лжедмитрий II был убит своими же казаками в 1612 году, что символизировало крах института самозванчества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Политика Шуйского показала невозможность сохранения власти в условиях тотального кризиса без опоры на широкие массы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Интервенция привела к народному ополчению (Минин и Пожарский) и окончательному очищению страны в 1612-1613 годах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2026-09-24T19:16:35Z</dcterms:created>
  <dc:creator/>
  <dc:description>This work is licensed under a Creative Commons 0 License.
It makes use of the works of fsanchez.</dc:description>
  <dc:language>ru-RU</dc:language>
  <cp:lastModifiedBy/>
  <dcterms:modified xsi:type="dcterms:W3CDTF">2026-09-24T19:47:36Z</dcterms:modified>
  <cp:revision>11</cp:revision>
  <dc:subject/>
  <dc:title>Vivid</dc:title>
</cp:coreProperties>
</file>